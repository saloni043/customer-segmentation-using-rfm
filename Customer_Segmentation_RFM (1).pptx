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WCSS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13050</c:v>
                </c:pt>
                <c:pt idx="1">
                  <c:v>9020</c:v>
                </c:pt>
                <c:pt idx="2">
                  <c:v>5430</c:v>
                </c:pt>
                <c:pt idx="3">
                  <c:v>4100</c:v>
                </c:pt>
                <c:pt idx="4">
                  <c:v>3120</c:v>
                </c:pt>
                <c:pt idx="5">
                  <c:v>2480</c:v>
                </c:pt>
                <c:pt idx="6">
                  <c:v>2020</c:v>
                </c:pt>
                <c:pt idx="7">
                  <c:v>1750</c:v>
                </c:pt>
                <c:pt idx="8">
                  <c:v>1430</c:v>
                </c:pt>
                <c:pt idx="9">
                  <c:v>1280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Number of Clusters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WCSS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295C"/>
              </a:solidFill>
              <a:effectLst/>
            </c:spPr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</c:dPt>
          <c:dPt>
            <c:idx val="2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bubble3D val="0"/>
            <c:spPr>
              <a:solidFill>
                <a:srgbClr val="1C729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Regular Customers</c:v>
                </c:pt>
                <c:pt idx="1">
                  <c:v>At-Risk / Lost</c:v>
                </c:pt>
                <c:pt idx="2">
                  <c:v>VIP / Champions</c:v>
                </c:pt>
                <c:pt idx="3">
                  <c:v>Loyal High-Value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27</c:v>
                </c:pt>
                <c:pt idx="2">
                  <c:v>15</c:v>
                </c:pt>
                <c:pt idx="3">
                  <c:v>20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F36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this project applies RFM analysis and K-Means clustering to segment customers from the UCI Online Retail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business problem: not all customers are equal, so we need data-driven segmentation.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dataset: UCI Online Retail, transaction level, used to compute per-customer RFM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cleaning step and why it matters for accurate RFM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R, F, M individually and how they're computed from InvoiceDate, InvoiceNo, TotalPrice grouped by CustomerID.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actual elbow plot from the notebook and explain why 4 clusters balances simplicity and separation.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cluster_summary table and explain how relative R, F, M values map to each business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of the four segments in plain business language before moving to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your actual value_counts() proportions here if you want exact percentages instead of illustrative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each segment into concrete marketing actions the business can 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summary and mention GitHub repo Saloni043 for anyone who wants to see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 PROJECT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164592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RFM Analysis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value and behaviour through Recency, Frequency &amp; Monetary analysis, powered by K-Means clustering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Saloni  |  B.Tech CSE (AI), KIET College  |  UCI Online Retail Dataset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retailers serve thousands of customers with very different value and behaviour. Treating every customer the same wastes marketing budget and misses opportunities to retain high-value shoppers or win back lapsing ones.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 Question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we group customers using their purchase behaviour so the business can act on each group differently?”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373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78040" y="1783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58368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Recency, Frequency &amp; Monetary value per customer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into meaningful groups using K-Means clustering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clusters into business-friendly segments (VIP, Loyal, Regular, At-Risk)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segments shift over time with a monthly animated view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findings into actionable marketing recommendations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UCI Online Retail Dataset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records from a UK-based online retailer, covering invoices, products, quantities, prices and customer IDs across roughly a year of trading.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4400" y="361188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— unique shopper identifier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InvoiceNo — order / transaction number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InvoiceDate — date &amp; time of purchase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&amp; UnitPrice — used to derive TotalPrice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55080" y="137160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0" y="15087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541K+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052560" y="15087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rows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288036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675120" y="3017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4,000+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052560" y="30175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55080" y="438912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675120" y="4526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9052560" y="45262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purchase history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 data needed preparation before it could be trusted for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missing CustomerID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without a customer identifier can't be attributed to any shopper, so they're dropped.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2606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cancelled orders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3832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numbers starting with ‘C’ represent cancellations and are excluded from purchase behaviour.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2606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invalid quantity / price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3832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zero or negative Quantity or UnitPrice are removed as they don’t reflect real purchases.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9720" y="16916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1832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418320" y="2606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TotalPrice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0" y="33832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column, Quantity × UnitPrice, is created to represent the value of each line item.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RFM Analysis — The 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metrics, calculated per customer, capture the essence of purchase behaviour.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37560" cy="41148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05940" y="21031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80594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88620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the customer’s most recent purchase. Lower is better — they bought recently.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337560" cy="41148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63540" y="210312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6354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3337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Frequency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88620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distinct orders placed by the customer. Higher means more engaged.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3337560" cy="41148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21140" y="210312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912114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229600" y="3337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Monetary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75320" y="388620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spent by the customer across all their orders. Higher means more valuable.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Number of Clusters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Elbow Method plots WCSS (within-cluster variance) against cluster count to find a good trade-off point.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91640"/>
            <a:ext cx="3794760" cy="4297680"/>
          </a:xfrm>
          <a:prstGeom prst="roundRect">
            <a:avLst>
              <a:gd name="adj" fmla="val 1928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38160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 = 4?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138160" y="251460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WCSS drops sharply from 1 to 3 clusters, then the curve begins to flatten. Beyond 4 clusters, the reduction becomes marginal — a sign of diminishing returns.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42062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clusters was selected as it balances model simplicity with meaningful separation — mapping naturally to VIP, Loyal, Regular and At-Risk segments.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Recency, Frequency &amp; Monetary values per cluster, used to assign business-friendly labels.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377440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2743200"/>
                <a:gridCol w="26517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Avg. Recency (days)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Avg. Frequency (orders)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Avg. Monetary (₹)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</a:rPr>
                        <a:t>VIP / Champions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Low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High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Highest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</a:rPr>
                        <a:t>Loyal High-Value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Low–Medium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Medium–High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High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</a:rPr>
                        <a:t>Regular Customers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Medium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Medium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Medium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1295C"/>
                          </a:solidFill>
                        </a:rPr>
                        <a:t>At-Risk / Lost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High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Low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A1F36"/>
                          </a:solidFill>
                        </a:rPr>
                        <a:t>Lowest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the pattern: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754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bought recently, order often, and spend the most are grouped as VIP / Champions — while those who haven’t purchased in a long time, order rarely, and spend little fall into At-Risk / Lost.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Four Customer Segments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40180" y="1691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/ Champions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77240" y="34747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Recent, frequent, highest spenders — the business’s most valuable customers.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74820" y="16916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 High-Value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3611880" y="34747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repeat buyers with strong spend — dependable revenue base.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3716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09460" y="169164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Customers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446520" y="34747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recency, frequency &amp; spend — the largest, steady segment.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052560" y="13716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944100" y="16916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980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35440" y="27889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At-Risk / Lost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9281160" y="347472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time since last purchase, low frequency &amp; spend — at risk of churn.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Distribution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customer base splits across the four segments.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486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64592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F7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202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6948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Read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675120" y="26060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 form the largest group — the everyday backbone of revenue. VIP / Champions are the smallest slice but disproportionately valuable, echoing the classic pattern where a small share of customers drives an outsized share of revenue.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675120" y="457200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/ Lost is a meaningful chunk of the base — exactly the group win-back campaigns should target first.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calls for a different marketing strategy.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VIP / Champions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access to new products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2148840"/>
            <a:ext cx="320040" cy="320040"/>
          </a:xfrm>
          <a:prstGeom prst="ellipse">
            <a:avLst/>
          </a:prstGeom>
          <a:solidFill>
            <a:srgbClr val="065A82">
              <a:alpha val="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383280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1880" y="20116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1488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 High-Value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11880" y="342900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benefits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749040" y="2148840"/>
            <a:ext cx="320040" cy="320040"/>
          </a:xfrm>
          <a:prstGeom prst="ellipse">
            <a:avLst/>
          </a:prstGeom>
          <a:solidFill>
            <a:srgbClr val="1C7293">
              <a:alpha val="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6217920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46520" y="2011680"/>
            <a:ext cx="594360" cy="594360"/>
          </a:xfrm>
          <a:prstGeom prst="ellipse">
            <a:avLst/>
          </a:prstGeom>
          <a:solidFill>
            <a:srgbClr val="3B5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1488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 Customers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46520" y="342900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offers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583680" y="2148840"/>
            <a:ext cx="320040" cy="320040"/>
          </a:xfrm>
          <a:prstGeom prst="ellipse">
            <a:avLst/>
          </a:prstGeom>
          <a:solidFill>
            <a:srgbClr val="3B5488">
              <a:alpha val="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9052560" y="173736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81160" y="2011680"/>
            <a:ext cx="594360" cy="594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1488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27889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At-Risk / Lost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281160" y="3429000"/>
            <a:ext cx="2148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coupons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9418320" y="2148840"/>
            <a:ext cx="320040" cy="320040"/>
          </a:xfrm>
          <a:prstGeom prst="ellipse">
            <a:avLst/>
          </a:prstGeom>
          <a:solidFill>
            <a:srgbClr val="F96167">
              <a:alpha val="0"/>
            </a:srgbClr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583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segments customers using RFM Analysis and K-Means Clustering, turning raw transaction data into four clear, business-ready customer groups.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6675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targeted marketing instead of one-size-fits-all campaigns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which customers are most valuable — and which are slipping away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snapshots show how customers migrate between segments over time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framework applicable to any transaction-level retail dataset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0" y="17373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0574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0" y="21031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38160" y="274320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Pandas, NumPy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K-Means, StandardScaler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— animated visualization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— development environment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github.com/Saloni043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using RFM Analysis</dc:title>
  <dc:subject>PptxGenJS Presentation</dc:subject>
  <dc:creator>Saloni</dc:creator>
  <cp:lastModifiedBy>Saloni</cp:lastModifiedBy>
  <cp:revision>1</cp:revision>
  <dcterms:created xsi:type="dcterms:W3CDTF">2026-07-09T05:54:45Z</dcterms:created>
  <dcterms:modified xsi:type="dcterms:W3CDTF">2026-07-09T05:54:45Z</dcterms:modified>
</cp:coreProperties>
</file>